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3B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15384"/>
            <a:ext cx="12191695" cy="2642616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Tanque de Aeração &amp; 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146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23B5D3"/>
                </a:solidFill>
                <a:latin typeface="Calibri"/>
              </a:rPr>
              <a:t>Distribuição de Bolhas · Potência do Agitador · Diagnóstico da Aeração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00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9FB3C8"/>
                </a:solidFill>
                <a:latin typeface="Calibri"/>
              </a:rPr>
              <a:t>Projeto Sugar — Usina Colombo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GreyLogix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9FB3C8"/>
                </a:solidFill>
                <a:latin typeface="Calibri"/>
              </a:rPr>
              <a:t>Simulação CFD — Simcenter STAR-CCM+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75488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CAEXPERTS</a:t>
            </a:r>
          </a:p>
          <a:p>
            <a:pPr algn="r">
              <a:lnSpc>
                <a:spcPct val="110000"/>
              </a:lnSpc>
            </a:pPr>
            <a:r>
              <a:rPr sz="1000" b="0">
                <a:solidFill>
                  <a:srgbClr val="9FB3C8"/>
                </a:solidFill>
                <a:latin typeface="Calibri"/>
              </a:rPr>
              <a:t>Technology Partner · Siemens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B3C8"/>
                </a:solidFill>
                <a:latin typeface="Calibri"/>
              </a:rPr>
              <a:t>Relatório preliminar — 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566928"/>
          </a:xfrm>
          <a:prstGeom prst="rect">
            <a:avLst/>
          </a:prstGeom>
          <a:solidFill>
            <a:srgbClr val="23B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3B5D3"/>
                </a:solidFill>
                <a:latin typeface="Calibri"/>
              </a:rPr>
              <a:t>ESCOPO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Objetivos da Simulação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486400" cy="4297680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5486400" cy="10972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ECC71"/>
                </a:solidFill>
                <a:latin typeface="Calibri"/>
              </a:rPr>
              <a:t>REATOR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3C8"/>
                </a:solidFill>
                <a:latin typeface="Calibri"/>
              </a:rPr>
              <a:t>Agitador do tanque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4846320" cy="2834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3B5D3"/>
                </a:solidFill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Potência do agitador dentro da meta (&lt; 25 kW)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3B5D3"/>
                </a:solidFill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Números adimensionais Np e Nq da geometria real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3B5D3"/>
                </a:solidFill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Regime de operação (Reynolds do impelidor)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554480"/>
            <a:ext cx="5486400" cy="4297680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554480"/>
            <a:ext cx="5486400" cy="109728"/>
          </a:xfrm>
          <a:prstGeom prst="rect">
            <a:avLst/>
          </a:prstGeom>
          <a:solidFill>
            <a:srgbClr val="B7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8745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79CE8"/>
                </a:solidFill>
                <a:latin typeface="Calibri"/>
              </a:rPr>
              <a:t>AERADOR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3317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3C8"/>
                </a:solidFill>
                <a:latin typeface="Calibri"/>
              </a:rPr>
              <a:t>Injeção de ar / flotação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880360"/>
            <a:ext cx="4846320" cy="2834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3B5D3"/>
                </a:solidFill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Distribuição de tamanho de bolha no tanque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3B5D3"/>
                </a:solidFill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Diagnóstico da aeração deficiente reportada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3B5D3"/>
                </a:solidFill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Pressão de ar otimizada (comparar 1 / 2 / 3 kgf/cm²)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3C8"/>
                </a:solidFill>
                <a:latin typeface="Calibri"/>
              </a:rPr>
              <a:t>GreyLogix  ·  CAExperts  ·  Simcenter STAR-CCM+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FB3C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566928"/>
          </a:xfrm>
          <a:prstGeom prst="rect">
            <a:avLst/>
          </a:prstGeom>
          <a:solidFill>
            <a:srgbClr val="23B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3B5D3"/>
                </a:solidFill>
                <a:latin typeface="Calibri"/>
              </a:rPr>
              <a:t>DOMÍNIO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Geometria do Domínio Fluido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6766560" cy="4480560"/>
          </a:xfrm>
          <a:prstGeom prst="rect">
            <a:avLst/>
          </a:prstGeom>
          <a:solidFill>
            <a:srgbClr val="0E2A45"/>
          </a:solidFill>
          <a:ln w="9525">
            <a:solidFill>
              <a:srgbClr val="23B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383280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FB3C8"/>
                </a:solidFill>
                <a:latin typeface="Calibri"/>
              </a:rPr>
              <a:t>[ colar cena STAR-CCM+ : domínio + impelidor + lanças ]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63040"/>
            <a:ext cx="4114800" cy="4480560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69164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3B5D3"/>
                </a:solidFill>
                <a:latin typeface="Calibri"/>
              </a:rPr>
              <a:t>Componentes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286000"/>
            <a:ext cx="3474720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Tanque cilíndrico com cone de fundo · volume ≈ 20.170 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Impelidor duplo hidrofólio Agimix AGX-PBW800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9FB3C8"/>
                </a:solidFill>
                <a:latin typeface="Calibri"/>
              </a:rPr>
              <a:t>3 pás/estágio (6 no total) · Ø 800 mm · eixo Ø 69,85 mm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3 lanças de injeção de ar próximas ao fundo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9FB3C8"/>
                </a:solidFill>
                <a:latin typeface="Calibri"/>
              </a:rPr>
              <a:t>Submersão dos injetores ≈ 6,47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3C8"/>
                </a:solidFill>
                <a:latin typeface="Calibri"/>
              </a:rPr>
              <a:t>GreyLogix  ·  CAExperts  ·  Simcenter STAR-CCM+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FB3C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566928"/>
          </a:xfrm>
          <a:prstGeom prst="rect">
            <a:avLst/>
          </a:prstGeom>
          <a:solidFill>
            <a:srgbClr val="23B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3B5D3"/>
                </a:solidFill>
                <a:latin typeface="Calibri"/>
              </a:rPr>
              <a:t>CONFIGURAÇÃO CFD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Modelos Físicos &amp; Condições de Contorno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86400" cy="4480560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86400" cy="9144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CC71"/>
                </a:solidFill>
                <a:latin typeface="Calibri"/>
              </a:rPr>
              <a:t>Reator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493776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MRF — regime permanente (Moving Reference Frame)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Fluxo segregado · k-ε turbulência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Xarope: ρ e μ = 6,5 Pa·s (alta viscosidade)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9FB3C8"/>
                </a:solidFill>
                <a:latin typeface="Calibri"/>
              </a:rPr>
              <a:t>Rotação 109,3 rpm (redutor Macopema MP05 + WEG 15 cv)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417320"/>
            <a:ext cx="5486400" cy="4480560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417320"/>
            <a:ext cx="5486400" cy="91440"/>
          </a:xfrm>
          <a:prstGeom prst="rect">
            <a:avLst/>
          </a:prstGeom>
          <a:solidFill>
            <a:srgbClr val="B7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79CE8"/>
                </a:solidFill>
                <a:latin typeface="Calibri"/>
              </a:rPr>
              <a:t>Aerador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148840"/>
            <a:ext cx="493776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EMP (Euler-Euler) Xarope + Ar · Phasic Turbulence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S-Gamma: quebra + coalescência de bolha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Implicit Unsteady (transiente) — o permanente diverge no regime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9FB3C8"/>
                </a:solidFill>
                <a:latin typeface="Calibri"/>
              </a:rPr>
              <a:t>Entrada de ar: Stagnation Inlet, VF = 1,0 · topo: Slip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9FB3C8"/>
                </a:solidFill>
                <a:latin typeface="Calibri"/>
              </a:rPr>
              <a:t>Pressão do caso 1: 98.070 Pa (1 kgf/cm²)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3C8"/>
                </a:solidFill>
                <a:latin typeface="Calibri"/>
              </a:rPr>
              <a:t>GreyLogix  ·  CAExperts  ·  Simcenter STAR-CCM+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FB3C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56692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CC71"/>
                </a:solidFill>
                <a:latin typeface="Calibri"/>
              </a:rPr>
              <a:t>RESULTADOS · 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Potência do Agitador &amp; Números Adimensionais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840480" cy="2148840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840480" cy="10972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9FB3C8"/>
                </a:solidFill>
                <a:latin typeface="Calibri"/>
              </a:rPr>
              <a:t>POTÊNCIA DO AGITADOR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4,07 </a:t>
            </a:r>
            <a:r>
              <a:rPr sz="2200" b="1">
                <a:solidFill>
                  <a:srgbClr val="2ECC71"/>
                </a:solidFill>
                <a:latin typeface="Calibri"/>
              </a:rPr>
              <a:t>kW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CC71"/>
                </a:solidFill>
                <a:latin typeface="Calibri"/>
              </a:rPr>
              <a:t>84% abaixo da meta de 25 kW  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94760"/>
            <a:ext cx="3840480" cy="2148840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0690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9FB3C8"/>
                </a:solidFill>
                <a:latin typeface="Calibri"/>
              </a:rPr>
              <a:t>REGIME DE OPERAÇÃO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Re ≈ 242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1208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23B5D3"/>
                </a:solidFill>
                <a:latin typeface="Calibri"/>
              </a:rPr>
              <a:t>TRANSIÇÃO</a:t>
            </a:r>
          </a:p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FB3C8"/>
                </a:solidFill>
                <a:latin typeface="Calibri"/>
              </a:rPr>
              <a:t>entre laminar e turbulento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663440" y="1463040"/>
          <a:ext cx="70408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920240"/>
                <a:gridCol w="2560320"/>
              </a:tblGrid>
              <a:tr h="74676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B1E33"/>
                          </a:solidFill>
                          <a:latin typeface="Calibri"/>
                        </a:rPr>
                        <a:t>Grandeza</a:t>
                      </a:r>
                    </a:p>
                  </a:txBody>
                  <a:tcPr marL="109728" marT="45720" marB="45720" anchor="ctr">
                    <a:solidFill>
                      <a:srgbClr val="2ECC7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B1E33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109728" marT="45720" marB="45720" anchor="ctr">
                    <a:solidFill>
                      <a:srgbClr val="2ECC7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B1E33"/>
                          </a:solidFill>
                          <a:latin typeface="Calibri"/>
                        </a:rPr>
                        <a:t>Nota</a:t>
                      </a:r>
                    </a:p>
                  </a:txBody>
                  <a:tcPr marL="109728" marT="45720" marB="45720" anchor="ctr">
                    <a:solidFill>
                      <a:srgbClr val="2ECC71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9FB3C8"/>
                          </a:solidFill>
                          <a:latin typeface="Calibri"/>
                        </a:rPr>
                        <a:t>Torque (2 estágios)</a:t>
                      </a:r>
                    </a:p>
                  </a:txBody>
                  <a:tcPr marL="109728" marT="45720" marB="45720" anchor="ctr">
                    <a:solidFill>
                      <a:srgbClr val="12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355,66 N·m</a:t>
                      </a:r>
                    </a:p>
                  </a:txBody>
                  <a:tcPr marL="109728" marT="45720" marB="45720" anchor="ctr">
                    <a:solidFill>
                      <a:srgbClr val="12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9FB3C8"/>
                          </a:solidFill>
                          <a:latin typeface="Calibri"/>
                        </a:rPr>
                        <a:t>steady convergido</a:t>
                      </a:r>
                    </a:p>
                  </a:txBody>
                  <a:tcPr marL="109728" marT="45720" marB="45720" anchor="ctr">
                    <a:solidFill>
                      <a:srgbClr val="123352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9FB3C8"/>
                          </a:solidFill>
                          <a:latin typeface="Calibri"/>
                        </a:rPr>
                        <a:t>Np por estágio</a:t>
                      </a:r>
                    </a:p>
                  </a:txBody>
                  <a:tcPr marL="109728" marT="45720" marB="45720" anchor="ctr">
                    <a:solidFill>
                      <a:srgbClr val="0E2A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0,76</a:t>
                      </a:r>
                    </a:p>
                  </a:txBody>
                  <a:tcPr marL="109728" marT="45720" marB="45720" anchor="ctr">
                    <a:solidFill>
                      <a:srgbClr val="0E2A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9FB3C8"/>
                          </a:solidFill>
                          <a:latin typeface="Calibri"/>
                        </a:rPr>
                        <a:t>P/(ρN³D⁵) ÷ 2</a:t>
                      </a:r>
                    </a:p>
                  </a:txBody>
                  <a:tcPr marL="109728" marT="45720" marB="45720" anchor="ctr">
                    <a:solidFill>
                      <a:srgbClr val="0E2A45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9FB3C8"/>
                          </a:solidFill>
                          <a:latin typeface="Calibri"/>
                        </a:rPr>
                        <a:t>Np total</a:t>
                      </a:r>
                    </a:p>
                  </a:txBody>
                  <a:tcPr marL="109728" marT="45720" marB="45720" anchor="ctr">
                    <a:solidFill>
                      <a:srgbClr val="12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1,522</a:t>
                      </a:r>
                    </a:p>
                  </a:txBody>
                  <a:tcPr marL="109728" marT="45720" marB="45720" anchor="ctr">
                    <a:solidFill>
                      <a:srgbClr val="12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9FB3C8"/>
                          </a:solidFill>
                          <a:latin typeface="Calibri"/>
                        </a:rPr>
                        <a:t>2 estágios no eixo</a:t>
                      </a:r>
                    </a:p>
                  </a:txBody>
                  <a:tcPr marL="109728" marT="45720" marB="45720" anchor="ctr">
                    <a:solidFill>
                      <a:srgbClr val="123352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9FB3C8"/>
                          </a:solidFill>
                          <a:latin typeface="Calibri"/>
                        </a:rPr>
                        <a:t>Nq (nº de vazão)</a:t>
                      </a:r>
                    </a:p>
                  </a:txBody>
                  <a:tcPr marL="109728" marT="45720" marB="45720" anchor="ctr">
                    <a:solidFill>
                      <a:srgbClr val="0E2A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0,345</a:t>
                      </a:r>
                    </a:p>
                  </a:txBody>
                  <a:tcPr marL="109728" marT="45720" marB="45720" anchor="ctr">
                    <a:solidFill>
                      <a:srgbClr val="0E2A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9FB3C8"/>
                          </a:solidFill>
                          <a:latin typeface="Calibri"/>
                        </a:rPr>
                        <a:t>|Q|/(ND³), Q=0,321 m³/s</a:t>
                      </a:r>
                    </a:p>
                  </a:txBody>
                  <a:tcPr marL="109728" marT="45720" marB="45720" anchor="ctr">
                    <a:solidFill>
                      <a:srgbClr val="0E2A45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9FB3C8"/>
                          </a:solidFill>
                          <a:latin typeface="Calibri"/>
                        </a:rPr>
                        <a:t>Coerência do torque</a:t>
                      </a:r>
                    </a:p>
                  </a:txBody>
                  <a:tcPr marL="109728" marT="45720" marB="45720" anchor="ctr">
                    <a:solidFill>
                      <a:srgbClr val="12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±5%</a:t>
                      </a:r>
                    </a:p>
                  </a:txBody>
                  <a:tcPr marL="109728" marT="45720" marB="45720" anchor="ctr">
                    <a:solidFill>
                      <a:srgbClr val="12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9FB3C8"/>
                          </a:solidFill>
                          <a:latin typeface="Calibri"/>
                        </a:rPr>
                        <a:t>3 métodos independentes</a:t>
                      </a:r>
                    </a:p>
                  </a:txBody>
                  <a:tcPr marL="109728" marT="45720" marB="45720" anchor="ctr">
                    <a:solidFill>
                      <a:srgbClr val="123352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3C8"/>
                </a:solidFill>
                <a:latin typeface="Calibri"/>
              </a:rPr>
              <a:t>GreyLogix  ·  CAExperts  ·  Simcenter STAR-CCM+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FB3C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566928"/>
          </a:xfrm>
          <a:prstGeom prst="rect">
            <a:avLst/>
          </a:prstGeom>
          <a:solidFill>
            <a:srgbClr val="B7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79CE8"/>
                </a:solidFill>
                <a:latin typeface="Calibri"/>
              </a:rPr>
              <a:t>RESULTADOS · AERADOR — CASO 1 (1 kgf/cm²)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Distribuição de Tamanho de Bolha</a:t>
            </a:r>
          </a:p>
        </p:txBody>
      </p:sp>
      <p:pic>
        <p:nvPicPr>
          <p:cNvPr id="7" name="Picture 6" descr="hist_bolha_c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223760" cy="404530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955279" y="1554480"/>
            <a:ext cx="3749039" cy="932688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1" y="1664208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FB3C8"/>
                </a:solidFill>
                <a:latin typeface="Calibri"/>
              </a:rPr>
              <a:t>SMD MÉDIO (domínio)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1" y="1920240"/>
            <a:ext cx="3291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2,39 </a:t>
            </a:r>
            <a:r>
              <a:rPr sz="1300" b="1">
                <a:solidFill>
                  <a:srgbClr val="B79CE8"/>
                </a:solidFill>
                <a:latin typeface="Calibri"/>
              </a:rPr>
              <a:t> 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606040"/>
            <a:ext cx="3749039" cy="932688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1" y="2715768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FB3C8"/>
                </a:solidFill>
                <a:latin typeface="Calibri"/>
              </a:rPr>
              <a:t>MODA / MEDIANA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1" y="2971800"/>
            <a:ext cx="3291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2,16 </a:t>
            </a:r>
            <a:r>
              <a:rPr sz="1300" b="1">
                <a:solidFill>
                  <a:srgbClr val="23B5D3"/>
                </a:solidFill>
                <a:latin typeface="Calibri"/>
              </a:rPr>
              <a:t> mm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3657600"/>
            <a:ext cx="3749039" cy="932688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1" y="3767328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FB3C8"/>
                </a:solidFill>
                <a:latin typeface="Calibri"/>
              </a:rPr>
              <a:t>BOLHA &lt; 200 µm (meta)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1" y="4023360"/>
            <a:ext cx="3291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≈ 0 </a:t>
            </a:r>
            <a:r>
              <a:rPr sz="1300" b="1">
                <a:solidFill>
                  <a:srgbClr val="F2B84B"/>
                </a:solidFill>
                <a:latin typeface="Calibri"/>
              </a:rPr>
              <a:t>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4709160"/>
            <a:ext cx="3749039" cy="932688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1" y="4818888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FB3C8"/>
                </a:solidFill>
                <a:latin typeface="Calibri"/>
              </a:rPr>
              <a:t>HOLDUP DE GÁS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5074920"/>
            <a:ext cx="3291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0,005 </a:t>
            </a:r>
            <a:r>
              <a:rPr sz="1300" b="1">
                <a:solidFill>
                  <a:srgbClr val="23B5D3"/>
                </a:solidFill>
                <a:latin typeface="Calibri"/>
              </a:rPr>
              <a:t>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806440"/>
            <a:ext cx="37490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FB3C8"/>
                </a:solidFill>
                <a:latin typeface="Calibri"/>
              </a:rPr>
              <a:t>Faixa D10–D90: 1,67–3,16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3C8"/>
                </a:solidFill>
                <a:latin typeface="Calibri"/>
              </a:rPr>
              <a:t>GreyLogix  ·  CAExperts  ·  Simcenter STAR-CCM+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FB3C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566928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84B"/>
                </a:solidFill>
                <a:latin typeface="Calibri"/>
              </a:rPr>
              <a:t>DIAGNÓSTICO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Por que a Aeração é Deficiente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5486400" cy="3017520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486400" cy="109728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2B84B"/>
                </a:solidFill>
                <a:latin typeface="Calibri"/>
              </a:rPr>
              <a:t>1 · Bolha grande demais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3776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Bolha típica ~2,4 mm — cerca de 8× a meta de 200 µm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E ~8× maior que o próprio floco (200–400 µm)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9FB3C8"/>
                </a:solidFill>
                <a:latin typeface="Calibri"/>
              </a:rPr>
              <a:t>Requisito do processo: bolha MENOR que o floco p/ aderir e flotar — aqui é o oposto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463040"/>
            <a:ext cx="5486400" cy="3017520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463040"/>
            <a:ext cx="5486400" cy="109728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7373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2B84B"/>
                </a:solidFill>
                <a:latin typeface="Calibri"/>
              </a:rPr>
              <a:t>2 · Sem dispersão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93776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Ar confinado à vizinhança das lanças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Recirculação de tanque ~µm/s — o jato não gera circulação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9FB3C8"/>
                </a:solidFill>
                <a:latin typeface="Calibri"/>
              </a:rPr>
              <a:t>O ar não varre o volume onde estão os flocos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709160"/>
            <a:ext cx="11183112" cy="1234440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709160"/>
            <a:ext cx="109728" cy="1234440"/>
          </a:xfrm>
          <a:prstGeom prst="rect">
            <a:avLst/>
          </a:prstGeom>
          <a:solidFill>
            <a:srgbClr val="23B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3B5D3"/>
                </a:solidFill>
                <a:latin typeface="Calibri"/>
              </a:rPr>
              <a:t>Raiz física comum: </a:t>
            </a:r>
            <a:r>
              <a:rPr sz="1500" b="0">
                <a:solidFill>
                  <a:srgbClr val="FFFFFF"/>
                </a:solidFill>
                <a:latin typeface="Calibri"/>
              </a:rPr>
              <a:t>a viscosidade do xarope (6,5 Pa·s) favorece a coalescência da bolha e sufoca a circulação de tanque — o mesmo fator que coloca o Reator em regime de transição.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3C8"/>
                </a:solidFill>
                <a:latin typeface="Calibri"/>
              </a:rPr>
              <a:t>GreyLogix  ·  CAExperts  ·  Simcenter STAR-CCM+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FB3C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566928"/>
          </a:xfrm>
          <a:prstGeom prst="rect">
            <a:avLst/>
          </a:prstGeom>
          <a:solidFill>
            <a:srgbClr val="23B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3B5D3"/>
                </a:solidFill>
                <a:latin typeface="Calibri"/>
              </a:rPr>
              <a:t>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Otimização de Pressão &amp; Recomendações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3566160" cy="2011680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566160" cy="10972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1 kgf/cm²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3C8"/>
                </a:solidFill>
                <a:latin typeface="Calibri"/>
              </a:rPr>
              <a:t>98.070 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CC71"/>
                </a:solidFill>
                <a:latin typeface="Calibri"/>
              </a:rPr>
              <a:t>✓ caracterizado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566160" cy="2011680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566160" cy="109728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2 kgf/cm²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3C8"/>
                </a:solidFill>
                <a:latin typeface="Calibri"/>
              </a:rPr>
              <a:t>196.130 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803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B84B"/>
                </a:solidFill>
                <a:latin typeface="Calibri"/>
              </a:rPr>
              <a:t>⟳ em andamento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554480"/>
            <a:ext cx="3566160" cy="2011680"/>
          </a:xfrm>
          <a:prstGeom prst="rect">
            <a:avLst/>
          </a:prstGeom>
          <a:solidFill>
            <a:srgbClr val="1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554480"/>
            <a:ext cx="3566160" cy="109728"/>
          </a:xfrm>
          <a:prstGeom prst="rect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828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3 kgf/cm²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3317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3C8"/>
                </a:solidFill>
                <a:latin typeface="Calibri"/>
              </a:rPr>
              <a:t>294.200 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8803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FB3C8"/>
                </a:solidFill>
                <a:latin typeface="Calibri"/>
              </a:rPr>
              <a:t>programado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31920"/>
            <a:ext cx="11183112" cy="2011680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3B5D3"/>
                </a:solidFill>
                <a:latin typeface="Calibri"/>
              </a:rPr>
              <a:t>Encaminhamento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Comparar SMD e dispersão nos 3 níveis de pressão para recomendar a pressão otimizada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Avaliar se pressão maior quebra/dispersa melhor a bolha, dado o diagnóstico de coalescência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3B5D3"/>
                </a:solidFill>
              </a:rPr>
              <a:t>▸  </a:t>
            </a:r>
            <a:r>
              <a:rPr sz="1300">
                <a:solidFill>
                  <a:srgbClr val="9FB3C8"/>
                </a:solidFill>
                <a:latin typeface="Calibri"/>
              </a:rPr>
              <a:t>Consolidar relatório final com a recomendação de operação para o 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3C8"/>
                </a:solidFill>
                <a:latin typeface="Calibri"/>
              </a:rPr>
              <a:t>GreyLogix  ·  CAExperts  ·  Simcenter STAR-CCM+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FB3C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