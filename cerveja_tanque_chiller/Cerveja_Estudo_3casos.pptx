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3">
              <a:alpha val="6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1371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Tanque de Resfriamento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66928" y="2331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Estratificação Térmica Transiente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66928" y="50292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GreyLogix
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CFD — Simcenter STAR-CCM+
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Hernandez Rozo</a:t>
            </a:r>
            <a:endParaRPr lang="en-US" sz="1800" dirty="0"/>
          </a:p>
        </p:txBody>
      </p:sp>
      <p:pic>
        <p:nvPicPr>
          <p:cNvPr id="7" name="Image 1" descr="logo_caexpe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67" y="4892040"/>
            <a:ext cx="2286000" cy="941471"/>
          </a:xfrm>
          <a:prstGeom prst="rect">
            <a:avLst/>
          </a:prstGeom>
        </p:spPr>
      </p:pic>
      <p:pic>
        <p:nvPicPr>
          <p:cNvPr id="8" name="Image 2" descr="badge_sieme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767" y="5806440"/>
            <a:ext cx="1554480" cy="7714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TANQUE CHILLER · GREYLOGIX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— estratificação térmica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430207" y="384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frio, mais denso, afunda e se acumula no fundo — uma camada quente estagnada fica no topo (warm lid).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resfriamento fica desigual e lento; o sensor de saída pode enganar (lê frio enquanto o topo continua quente).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do estudo: reduzir a estratificação e acelerar o resfriamento até −5 °C.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F1F6FB"/>
          </a:solidFill>
          <a:ln w="19050">
            <a:solidFill>
              <a:srgbClr val="D9822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12280" y="1600200"/>
            <a:ext cx="47091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INSERIR: render / foto da geometria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fluido do tanque (Sim 1 ou Sim 2) — vista frontal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Simcenter STAR-CCM+  ·  GreyLogix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TANQUE CHILLER · GREYLOGIX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&amp; casos simulados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430207" y="384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CFD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920240"/>
            <a:ext cx="5577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Transiente (Δt = 1 s), monofásico, buoyancy-driven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Empuxo: ρ(T) = 1082,88 − 0,55·T  — o motor da estratificação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Turbulência k-ε Realizable · gravidade em Z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Paredes adiabáticas (hipótese conservadora)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Chiller: retorno a −5 °C, 12 m³/h · T inicial +5 °C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37960" y="1572768"/>
            <a:ext cx="5074920" cy="1325880"/>
          </a:xfrm>
          <a:prstGeom prst="roundRect">
            <a:avLst>
              <a:gd name="adj" fmla="val 4828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7007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0" y="19842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Sucção 0,85 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20840" y="24323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original, sem recirculação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3035808"/>
            <a:ext cx="5074920" cy="1325880"/>
          </a:xfrm>
          <a:prstGeom prst="roundRect">
            <a:avLst>
              <a:gd name="adj" fmla="val 4828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3163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20840" y="34472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Sucção 1,35 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20840" y="38953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de elevar a captação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4498848"/>
            <a:ext cx="5074920" cy="1325880"/>
          </a:xfrm>
          <a:prstGeom prst="roundRect">
            <a:avLst>
              <a:gd name="adj" fmla="val 4828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46268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49103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Recirculação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20840" y="53583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 m + 2º circuito fundo→topo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Simcenter STAR-CCM+  ·  GreyLogix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ANALÍTICO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referência: mistura perfeita (CSTR)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430207" y="384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balanço de energia (paredes adiabáticas, retorno fixo a −5 °C), a velocidade do resfriamento depende só da temperatura da sucção: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35000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dT/dt = −(1/τ) · (T_sucção + 5)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27432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V/Q = 3,51 / (12/3600) = 1053 s — o tempo de residência (bombear 1 volume do tanque).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3375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44728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T(t) = −5 + 10 · e^(−t/τ)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6968" y="38404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 perfeita → decaimento exponencial. 99% resfriado em τ·ln(100) = 4849 s (o benchmark).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4526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inicial </a:t>
            </a:r>
            <a:pPr indent="0" marL="0">
              <a:buNone/>
            </a:pPr>
            <a:r>
              <a:rPr lang="en-US" sz="14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113,5 kW</a:t>
            </a:r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(vs. −115 kW medido)   ·   Energia total </a:t>
            </a:r>
            <a:pPr indent="0" marL="0">
              <a:buNone/>
            </a:pPr>
            <a:r>
              <a:rPr lang="en-US" sz="14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119,5 MJ</a:t>
            </a:r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igual nos 3 casos; muda só o ritmo.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Simcenter STAR-CCM+  ·  GreyLogix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casos vs. a mistura perfeita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430207" y="384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endParaRPr lang="en-US" sz="1200" dirty="0"/>
          </a:p>
        </p:txBody>
      </p:sp>
      <p:pic>
        <p:nvPicPr>
          <p:cNvPr id="5" name="Image 0" descr="g_t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6126480" cy="3675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737360"/>
            <a:ext cx="2331720" cy="457200"/>
          </a:xfrm>
          <a:prstGeom prst="rect">
            <a:avLst/>
          </a:prstGeom>
          <a:solidFill>
            <a:srgbClr val="1C5FA8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22592" y="17373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9281160" y="1737360"/>
            <a:ext cx="1234440" cy="457200"/>
          </a:xfrm>
          <a:prstGeom prst="rect">
            <a:avLst/>
          </a:prstGeom>
          <a:solidFill>
            <a:srgbClr val="1C5FA8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54312" y="173736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−4,9 °C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0515600" y="1737360"/>
            <a:ext cx="1600200" cy="457200"/>
          </a:xfrm>
          <a:prstGeom prst="rect">
            <a:avLst/>
          </a:prstGeom>
          <a:solidFill>
            <a:srgbClr val="1C5FA8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88752" y="173736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CSTR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949440" y="2194560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22592" y="21945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1 · 1,35 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281160" y="2194560"/>
            <a:ext cx="1234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54312" y="219456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3040 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515600" y="2194560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88752" y="219456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−37% (rápido)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949440" y="2651760"/>
            <a:ext cx="2331720" cy="457200"/>
          </a:xfrm>
          <a:prstGeom prst="rect">
            <a:avLst/>
          </a:prstGeom>
          <a:solidFill>
            <a:srgbClr val="F1F6FB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22592" y="26517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CSTR ideal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281160" y="2651760"/>
            <a:ext cx="1234440" cy="457200"/>
          </a:xfrm>
          <a:prstGeom prst="rect">
            <a:avLst/>
          </a:prstGeom>
          <a:solidFill>
            <a:srgbClr val="F1F6FB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54312" y="265176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4849 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10515600" y="2651760"/>
            <a:ext cx="1600200" cy="457200"/>
          </a:xfrm>
          <a:prstGeom prst="rect">
            <a:avLst/>
          </a:prstGeom>
          <a:solidFill>
            <a:srgbClr val="F1F6FB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88752" y="265176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949440" y="3108960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22592" y="31089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2 · +recirc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281160" y="3108960"/>
            <a:ext cx="1234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54312" y="310896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4930 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10515600" y="3108960"/>
            <a:ext cx="1600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588752" y="310896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CSTR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949440" y="3566160"/>
            <a:ext cx="2331720" cy="457200"/>
          </a:xfrm>
          <a:prstGeom prst="rect">
            <a:avLst/>
          </a:prstGeom>
          <a:solidFill>
            <a:srgbClr val="F1F6FB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22592" y="356616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0,85 m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9281160" y="3566160"/>
            <a:ext cx="1234440" cy="457200"/>
          </a:xfrm>
          <a:prstGeom prst="rect">
            <a:avLst/>
          </a:prstGeom>
          <a:solidFill>
            <a:srgbClr val="F1F6FB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354312" y="356616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~7500 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10515600" y="3566160"/>
            <a:ext cx="1600200" cy="457200"/>
          </a:xfrm>
          <a:prstGeom prst="rect">
            <a:avLst/>
          </a:prstGeom>
          <a:solidFill>
            <a:srgbClr val="F1F6FB"/>
          </a:solidFill>
          <a:ln w="6350">
            <a:solidFill>
              <a:srgbClr val="D7E1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588752" y="356616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6949440" y="42519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1 </a:t>
            </a:r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 a mistura (deslocamento). </a:t>
            </a:r>
            <a:pPr indent="0" marL="0">
              <a:buNone/>
            </a:pPr>
            <a:r>
              <a:rPr lang="en-US" sz="1350" b="1" dirty="0">
                <a:solidFill>
                  <a:srgbClr val="2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2 </a:t>
            </a:r>
            <a:pPr indent="0" marL="0"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assenta no limite CSTR (recirc homogeneíza).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Simcenter STAR-CCM+  ·  GreyLogix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DOS CAMPOS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1 &amp; Sim 2 — Temperatura e Velocidade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430207" y="384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1F6FB"/>
          </a:solidFill>
          <a:ln w="19050">
            <a:solidFill>
              <a:srgbClr val="D9822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58368" y="1572768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INSERIR VÍDEO — Sim 1 · Temperatura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gravado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572768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1F6FB"/>
          </a:solidFill>
          <a:ln w="19050">
            <a:solidFill>
              <a:srgbClr val="D9822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92240" y="1572768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INSERIR VÍDEO — Sim 1 · Velocidade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gravado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84048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1F6FB"/>
          </a:solidFill>
          <a:ln w="19050">
            <a:solidFill>
              <a:srgbClr val="D9822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58368" y="38404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INSERIR VÍDEO — Sim 2 · Temperatura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gravado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384048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1F6FB"/>
          </a:solidFill>
          <a:ln w="19050">
            <a:solidFill>
              <a:srgbClr val="D9822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492240" y="38404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INSERIR VÍDEO — Sim 2 · Velocidade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gravado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Simcenter STAR-CCM+  ·  GreyLogix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recirculação é adiabática — só mistura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430207" y="384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endParaRPr lang="en-US" sz="1200" dirty="0"/>
          </a:p>
        </p:txBody>
      </p:sp>
      <p:pic>
        <p:nvPicPr>
          <p:cNvPr id="5" name="Image 0" descr="g_ad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576072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29400" y="169164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recirc devolve no topo a mesma temperatura que capta no fundo. As curvas coincidem; a diferença é medida em milicelsius (mC = 0,001 °C):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29400" y="2971800"/>
            <a:ext cx="4983480" cy="1828800"/>
          </a:xfrm>
          <a:prstGeom prst="roundRect">
            <a:avLst>
              <a:gd name="adj" fmla="val 3500"/>
            </a:avLst>
          </a:prstGeom>
          <a:solidFill>
            <a:srgbClr val="F1F6FB"/>
          </a:solidFill>
          <a:ln w="19050">
            <a:solidFill>
              <a:srgbClr val="2E9E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9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LÍQUIDA DA RECIRC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0" y="3474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9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+0,38 MJ = +0,3%</a:t>
            </a:r>
            <a:endParaRPr lang="en-US" sz="2600" dirty="0"/>
          </a:p>
          <a:p>
            <a:pPr indent="0" marL="0">
              <a:buNone/>
            </a:pPr>
            <a:r>
              <a:rPr lang="en-US" sz="12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119,5 MJ removidos → desprezível. A recirc não troca calor: apenas homogeneíza.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CAEXPERTS</a:t>
            </a:r>
            <a:pPr algn="l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Simcenter STAR-CCM+  ·  GreyLogix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67567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3">
              <a:alpha val="7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66928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trade-off quantificado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2057400"/>
            <a:ext cx="5212080" cy="2468880"/>
          </a:xfrm>
          <a:prstGeom prst="roundRect">
            <a:avLst>
              <a:gd name="adj" fmla="val 2963"/>
            </a:avLst>
          </a:prstGeom>
          <a:solidFill>
            <a:srgbClr val="14294A">
              <a:alpha val="88000"/>
            </a:srgbClr>
          </a:solidFill>
          <a:ln w="15875">
            <a:solidFill>
              <a:srgbClr val="2E9E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9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PRIORIDADE: RESFRIAR RÁPIDO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6968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 1 (sucção 1,35 m)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86968" y="3429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deslocamento resfria em ~3040 s, batendo a mistura perfeita em 37%.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2057400"/>
            <a:ext cx="5212080" cy="2468880"/>
          </a:xfrm>
          <a:prstGeom prst="roundRect">
            <a:avLst>
              <a:gd name="adj" fmla="val 2963"/>
            </a:avLst>
          </a:prstGeom>
          <a:solidFill>
            <a:srgbClr val="14294A">
              <a:alpha val="88000"/>
            </a:srgbClr>
          </a:solidFill>
          <a:ln w="15875">
            <a:solidFill>
              <a:srgbClr val="2AA6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PRIORIDADE: UNIFORMIDADE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20840" y="2651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 2 (+ recirculação)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720840" y="3429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 o pico de estratificação pela metade (9,6 → 4,7 °C), ~1,6× mais lento.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66928" y="4846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a sucção de 0,85 → 1,35 m é ganho garantido — resolve o problema original e acelera.</a:t>
            </a:r>
            <a:endParaRPr lang="en-US" sz="1500" dirty="0"/>
          </a:p>
        </p:txBody>
      </p:sp>
      <p:pic>
        <p:nvPicPr>
          <p:cNvPr id="15" name="Image 1" descr="logo_caexpe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8" y="5532120"/>
            <a:ext cx="2011680" cy="8284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Tanque de Resfriamento - Estudo CFD</dc:title>
  <dc:subject>PptxGenJS Presentation</dc:subject>
  <dc:creator>CAEXPERTS</dc:creator>
  <cp:lastModifiedBy>CAEXPERTS</cp:lastModifiedBy>
  <cp:revision>1</cp:revision>
  <dcterms:created xsi:type="dcterms:W3CDTF">2026-07-18T21:53:39Z</dcterms:created>
  <dcterms:modified xsi:type="dcterms:W3CDTF">2026-07-18T21:53:39Z</dcterms:modified>
</cp:coreProperties>
</file>