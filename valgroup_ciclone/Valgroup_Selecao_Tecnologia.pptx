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g_wi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A33">
              <a:alpha val="66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566928" y="13258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Separação Gás-Sólido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566928" y="22860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7FB3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Seleção de Tecnologia — Matriz de Decisão</a:t>
            </a:r>
            <a:endParaRPr lang="en-US" sz="2300" dirty="0"/>
          </a:p>
        </p:txBody>
      </p:sp>
      <p:sp>
        <p:nvSpPr>
          <p:cNvPr id="6" name="Text 3"/>
          <p:cNvSpPr/>
          <p:nvPr/>
        </p:nvSpPr>
        <p:spPr>
          <a:xfrm>
            <a:off x="566928" y="502920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Valgroup Brasil
</a:t>
            </a:r>
            <a:endParaRPr lang="en-US" sz="1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9F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Separação do char do gás de pirólise  ·  Simcenter STAR-CCM+
</a:t>
            </a:r>
            <a:endParaRPr lang="en-US" sz="1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9F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Gabriel Hernandez Rozo</a:t>
            </a:r>
            <a:endParaRPr lang="en-US" sz="1800" dirty="0"/>
          </a:p>
        </p:txBody>
      </p:sp>
      <p:pic>
        <p:nvPicPr>
          <p:cNvPr id="7" name="Image 1" descr="logo_caexpert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8767" y="4892040"/>
            <a:ext cx="2286000" cy="941471"/>
          </a:xfrm>
          <a:prstGeom prst="rect">
            <a:avLst/>
          </a:prstGeom>
        </p:spPr>
      </p:pic>
      <p:pic>
        <p:nvPicPr>
          <p:cNvPr id="8" name="Image 2" descr="badge_siemen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38767" y="5806440"/>
            <a:ext cx="1554480" cy="77145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E7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CONTEXTO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desafio — separar o char do gás quente de pirólise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430207" y="38404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100" kern="0" dirty="0">
                <a:solidFill>
                  <a:srgbClr val="1C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CAEXPERTS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66928" y="1600200"/>
            <a:ext cx="67665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Gás de pirólise (r-PET) a 400–450 °C, 1,2 bar · ~80 kg/h de char (biomassa) a separar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Restrição de perda de carga: ΔP &lt; 40 mbar (16" H₂O)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 abrasivo e mineral (Ti ~15%, Si, Fe — total ~21%) → separa bem, mas desgasta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Cloro 2,78% → HCl a 450 °C: risco de corrosão (favorece a via SECA)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Downstream = condensador casco-tubo → exige gás SECO e quente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635240" y="1691640"/>
            <a:ext cx="3977640" cy="3291840"/>
          </a:xfrm>
          <a:prstGeom prst="roundRect">
            <a:avLst>
              <a:gd name="adj" fmla="val 2222"/>
            </a:avLst>
          </a:prstGeom>
          <a:solidFill>
            <a:srgbClr val="F1F6FB"/>
          </a:solidFill>
          <a:ln w="15875">
            <a:solidFill>
              <a:srgbClr val="3E7C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18745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E7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PERGUNTA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863840" y="2240280"/>
            <a:ext cx="35204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tecnologia separa o char
</a:t>
            </a:r>
            <a:endParaRPr lang="en-US" sz="1600" dirty="0"/>
          </a:p>
          <a:p>
            <a:pPr indent="0" marL="0">
              <a:buNone/>
            </a:pPr>
            <a:r>
              <a:rPr lang="en-US" sz="135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com alta eficiência, ΔP baixo, resistindo ao HCl e entregando gás seco quente ao condensador?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66928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C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CAEXPERTS</a:t>
            </a:r>
            <a:pPr algn="l" indent="0" marL="0">
              <a:buNone/>
            </a:pPr>
            <a:r>
              <a:rPr lang="en-US" sz="90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Separacao Gas-Solido  ·  Valgroup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167567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E7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OPÇÕES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tecnologias avaliadas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430207" y="38404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100" kern="0" dirty="0">
                <a:solidFill>
                  <a:srgbClr val="1C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CAEXPERTS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66928" y="1600200"/>
            <a:ext cx="3566160" cy="1737360"/>
          </a:xfrm>
          <a:prstGeom prst="roundRect">
            <a:avLst>
              <a:gd name="adj" fmla="val 3684"/>
            </a:avLst>
          </a:prstGeom>
          <a:solidFill>
            <a:srgbClr val="F1F6FB"/>
          </a:solidFill>
          <a:ln w="12700">
            <a:solidFill>
              <a:srgbClr val="D7E1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180136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Ciclone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95528" y="2350008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seca · centrífuga · sem partes móveis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416552" y="1600200"/>
            <a:ext cx="3566160" cy="1737360"/>
          </a:xfrm>
          <a:prstGeom prst="roundRect">
            <a:avLst>
              <a:gd name="adj" fmla="val 3684"/>
            </a:avLst>
          </a:prstGeom>
          <a:solidFill>
            <a:srgbClr val="F1F6FB"/>
          </a:solidFill>
          <a:ln w="12700">
            <a:solidFill>
              <a:srgbClr val="D7E1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45152" y="180136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Quench Tower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645152" y="2350008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úmida · resfria e dissolve o char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266176" y="1600200"/>
            <a:ext cx="3566160" cy="1737360"/>
          </a:xfrm>
          <a:prstGeom prst="roundRect">
            <a:avLst>
              <a:gd name="adj" fmla="val 3684"/>
            </a:avLst>
          </a:prstGeom>
          <a:solidFill>
            <a:srgbClr val="F1F6FB"/>
          </a:solidFill>
          <a:ln w="12700">
            <a:solidFill>
              <a:srgbClr val="D7E1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94776" y="180136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 Cerâmico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494776" y="2350008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Velas porosas · retém finos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66928" y="3566160"/>
            <a:ext cx="3566160" cy="1737360"/>
          </a:xfrm>
          <a:prstGeom prst="roundRect">
            <a:avLst>
              <a:gd name="adj" fmla="val 3684"/>
            </a:avLst>
          </a:prstGeom>
          <a:solidFill>
            <a:srgbClr val="F1F6FB"/>
          </a:solidFill>
          <a:ln w="12700">
            <a:solidFill>
              <a:srgbClr val="D7E1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5528" y="376732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95528" y="4315968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Eletrostático · precipita partículas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416552" y="3566160"/>
            <a:ext cx="3566160" cy="1737360"/>
          </a:xfrm>
          <a:prstGeom prst="roundRect">
            <a:avLst>
              <a:gd name="adj" fmla="val 3684"/>
            </a:avLst>
          </a:prstGeom>
          <a:solidFill>
            <a:srgbClr val="F1F6FB"/>
          </a:solidFill>
          <a:ln w="12700">
            <a:solidFill>
              <a:srgbClr val="D7E1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45152" y="376732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Scrubber Úmido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645152" y="4315968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Lavagem · captura com líquido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266176" y="3566160"/>
            <a:ext cx="3566160" cy="1737360"/>
          </a:xfrm>
          <a:prstGeom prst="roundRect">
            <a:avLst>
              <a:gd name="adj" fmla="val 3684"/>
            </a:avLst>
          </a:prstGeom>
          <a:solidFill>
            <a:srgbClr val="F1F6FB"/>
          </a:solidFill>
          <a:ln w="12700">
            <a:solidFill>
              <a:srgbClr val="D7E1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94776" y="376732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Settler Gravit.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494776" y="4315968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Câmara de decantação · gravidade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66928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C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CAEXPERTS</a:t>
            </a:r>
            <a:pPr algn="l" indent="0" marL="0">
              <a:buNone/>
            </a:pPr>
            <a:r>
              <a:rPr lang="en-US" sz="90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Separacao Gas-Solido  ·  Valgroup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167567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E7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MÉTODO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matriz de decisão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430207" y="38404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100" kern="0" dirty="0">
                <a:solidFill>
                  <a:srgbClr val="1C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CAEXPERTS</a:t>
            </a:r>
            <a:endParaRPr lang="en-US" sz="1200" dirty="0"/>
          </a:p>
        </p:txBody>
      </p:sp>
      <p:pic>
        <p:nvPicPr>
          <p:cNvPr id="5" name="Image 0" descr="matriz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63040"/>
            <a:ext cx="6285653" cy="5120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406640" y="173736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E7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funciona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406640" y="2148840"/>
            <a:ext cx="42519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critérios técnicos, com PESO 1 ou 2 (os mais críticos pesam 2)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tecnologia recebe +1 (positivo) · 0 (neutro) · −1 (negativo) por critério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 do email do cliente incluído: 'evitar filtração de líquido' (peso 2)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Soma ponderada → ranking objetivo (máx. +17)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566928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C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CAEXPERTS</a:t>
            </a:r>
            <a:pPr algn="l" indent="0" marL="0">
              <a:buNone/>
            </a:pPr>
            <a:r>
              <a:rPr lang="en-US" sz="90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Separacao Gas-Solido  ·  Valgroup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167567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E7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RESULTADO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Ciclone é a tecnologia recomendada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430207" y="38404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100" kern="0" dirty="0">
                <a:solidFill>
                  <a:srgbClr val="1C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CAEXPERTS</a:t>
            </a:r>
            <a:endParaRPr lang="en-US" sz="1200" dirty="0"/>
          </a:p>
        </p:txBody>
      </p:sp>
      <p:pic>
        <p:nvPicPr>
          <p:cNvPr id="5" name="Image 0" descr="rank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600200"/>
            <a:ext cx="6583680" cy="325311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452360" y="2011680"/>
            <a:ext cx="4160520" cy="2377440"/>
          </a:xfrm>
          <a:prstGeom prst="roundRect">
            <a:avLst>
              <a:gd name="adj" fmla="val 3077"/>
            </a:avLst>
          </a:prstGeom>
          <a:solidFill>
            <a:srgbClr val="F1F6FB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680960" y="2194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VENCEDOR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680960" y="251460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CICLONE  </a:t>
            </a:r>
            <a:pPr indent="0" marL="0">
              <a:buNone/>
            </a:pPr>
            <a:r>
              <a:rPr lang="en-US" sz="22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+11/17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7680960" y="3200400"/>
            <a:ext cx="3703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Vantagem clara sobre o 2º (Filtro Cerâmico, +8) e o 3º (Settler, +7). As vias úmidas (Quench/Scrubber) ficaram em último (+3).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566928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C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CAEXPERTS</a:t>
            </a:r>
            <a:pPr algn="l" indent="0" marL="0">
              <a:buNone/>
            </a:pPr>
            <a:r>
              <a:rPr lang="en-US" sz="90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Separacao Gas-Solido  ·  Valgroup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167567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E7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QUÊ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razões pelas quais o ciclone venceu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430207" y="38404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100" kern="0" dirty="0">
                <a:solidFill>
                  <a:srgbClr val="1C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CAEXPERTS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66928" y="1600200"/>
            <a:ext cx="3566160" cy="1737360"/>
          </a:xfrm>
          <a:prstGeom prst="roundRect">
            <a:avLst>
              <a:gd name="adj" fmla="val 3684"/>
            </a:avLst>
          </a:prstGeom>
          <a:solidFill>
            <a:srgbClr val="F1F6FB"/>
          </a:solidFill>
          <a:ln w="12700">
            <a:solidFill>
              <a:srgbClr val="D7E1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8096" y="1801368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2E8B57"/>
          </a:solidFill>
          <a:ln/>
        </p:spPr>
      </p:sp>
      <p:sp>
        <p:nvSpPr>
          <p:cNvPr id="7" name="Text 5"/>
          <p:cNvSpPr/>
          <p:nvPr/>
        </p:nvSpPr>
        <p:spPr>
          <a:xfrm>
            <a:off x="768096" y="1783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80160" y="17830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temperatura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95528" y="2313432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 a 450 °C direto (via seca) — sem resfriar o gás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416552" y="1600200"/>
            <a:ext cx="3566160" cy="1737360"/>
          </a:xfrm>
          <a:prstGeom prst="roundRect">
            <a:avLst>
              <a:gd name="adj" fmla="val 3684"/>
            </a:avLst>
          </a:prstGeom>
          <a:solidFill>
            <a:srgbClr val="F1F6FB"/>
          </a:solidFill>
          <a:ln w="12700">
            <a:solidFill>
              <a:srgbClr val="D7E1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17720" y="1801368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2E8B57"/>
          </a:solidFill>
          <a:ln/>
        </p:spPr>
      </p:sp>
      <p:sp>
        <p:nvSpPr>
          <p:cNvPr id="12" name="Text 10"/>
          <p:cNvSpPr/>
          <p:nvPr/>
        </p:nvSpPr>
        <p:spPr>
          <a:xfrm>
            <a:off x="4617720" y="1783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129784" y="17830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ΔP baixo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645152" y="2313432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5–25 mbar &lt; 40 mbar do projeto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266176" y="1600200"/>
            <a:ext cx="3566160" cy="1737360"/>
          </a:xfrm>
          <a:prstGeom prst="roundRect">
            <a:avLst>
              <a:gd name="adj" fmla="val 3684"/>
            </a:avLst>
          </a:prstGeom>
          <a:solidFill>
            <a:srgbClr val="F1F6FB"/>
          </a:solidFill>
          <a:ln w="12700">
            <a:solidFill>
              <a:srgbClr val="D7E1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67344" y="1801368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2E8B57"/>
          </a:solidFill>
          <a:ln/>
        </p:spPr>
      </p:sp>
      <p:sp>
        <p:nvSpPr>
          <p:cNvPr id="17" name="Text 15"/>
          <p:cNvSpPr/>
          <p:nvPr/>
        </p:nvSpPr>
        <p:spPr>
          <a:xfrm>
            <a:off x="8467344" y="1783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979408" y="17830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partes móveis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494776" y="2313432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Baixo custo e baixa manutenção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66928" y="3566160"/>
            <a:ext cx="3566160" cy="1737360"/>
          </a:xfrm>
          <a:prstGeom prst="roundRect">
            <a:avLst>
              <a:gd name="adj" fmla="val 3684"/>
            </a:avLst>
          </a:prstGeom>
          <a:solidFill>
            <a:srgbClr val="F1F6FB"/>
          </a:solidFill>
          <a:ln w="12700">
            <a:solidFill>
              <a:srgbClr val="D7E1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68096" y="3767328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2E8B57"/>
          </a:solidFill>
          <a:ln/>
        </p:spPr>
      </p:sp>
      <p:sp>
        <p:nvSpPr>
          <p:cNvPr id="22" name="Text 20"/>
          <p:cNvSpPr/>
          <p:nvPr/>
        </p:nvSpPr>
        <p:spPr>
          <a:xfrm>
            <a:off x="768096" y="3749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280160" y="37490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Gás seco e quente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95528" y="4279392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Perfeito para o condensador casco-tubo a jusante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4416552" y="3566160"/>
            <a:ext cx="3566160" cy="1737360"/>
          </a:xfrm>
          <a:prstGeom prst="roundRect">
            <a:avLst>
              <a:gd name="adj" fmla="val 3684"/>
            </a:avLst>
          </a:prstGeom>
          <a:solidFill>
            <a:srgbClr val="F1F6FB"/>
          </a:solidFill>
          <a:ln w="12700">
            <a:solidFill>
              <a:srgbClr val="D7E1E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17720" y="3767328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2E8B57"/>
          </a:solidFill>
          <a:ln/>
        </p:spPr>
      </p:sp>
      <p:sp>
        <p:nvSpPr>
          <p:cNvPr id="27" name="Text 25"/>
          <p:cNvSpPr/>
          <p:nvPr/>
        </p:nvSpPr>
        <p:spPr>
          <a:xfrm>
            <a:off x="4617720" y="3749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129784" y="37490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 filtração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4645152" y="4279392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gera líquido a filtrar (critério do cliente)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8266176" y="3566160"/>
            <a:ext cx="3566160" cy="1737360"/>
          </a:xfrm>
          <a:prstGeom prst="roundRect">
            <a:avLst>
              <a:gd name="adj" fmla="val 3684"/>
            </a:avLst>
          </a:prstGeom>
          <a:solidFill>
            <a:srgbClr val="F1F6FB"/>
          </a:solidFill>
          <a:ln w="12700">
            <a:solidFill>
              <a:srgbClr val="D7E1E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467344" y="3767328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2E8B57"/>
          </a:solidFill>
          <a:ln/>
        </p:spPr>
      </p:sp>
      <p:sp>
        <p:nvSpPr>
          <p:cNvPr id="32" name="Text 30"/>
          <p:cNvSpPr/>
          <p:nvPr/>
        </p:nvSpPr>
        <p:spPr>
          <a:xfrm>
            <a:off x="8467344" y="3749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979408" y="37490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Resiste ao HCl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8494776" y="4279392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seca vence a corrosão que afunda as úmidas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566928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C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CAEXPERTS</a:t>
            </a:r>
            <a:pPr algn="l" indent="0" marL="0">
              <a:buNone/>
            </a:pPr>
            <a:r>
              <a:rPr lang="en-US" sz="90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Separacao Gas-Solido  ·  Valgroup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167567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E7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TRADE-OFF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as outras não passaram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430207" y="38404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100" kern="0" dirty="0">
                <a:solidFill>
                  <a:srgbClr val="1C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CAEXPERTS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66928" y="1691640"/>
            <a:ext cx="11064240" cy="1024128"/>
          </a:xfrm>
          <a:prstGeom prst="roundRect">
            <a:avLst>
              <a:gd name="adj" fmla="val 5357"/>
            </a:avLst>
          </a:prstGeom>
          <a:solidFill>
            <a:srgbClr val="F1F6FB"/>
          </a:solidFill>
          <a:ln w="12700">
            <a:solidFill>
              <a:srgbClr val="D7E1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1691640"/>
            <a:ext cx="27432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 Cerâmico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584448" y="2002536"/>
            <a:ext cx="822960" cy="402336"/>
          </a:xfrm>
          <a:prstGeom prst="roundRect">
            <a:avLst>
              <a:gd name="adj" fmla="val 11364"/>
            </a:avLst>
          </a:prstGeom>
          <a:solidFill>
            <a:srgbClr val="D9822B"/>
          </a:solidFill>
          <a:ln/>
        </p:spPr>
      </p:sp>
      <p:sp>
        <p:nvSpPr>
          <p:cNvPr id="8" name="Text 6"/>
          <p:cNvSpPr/>
          <p:nvPr/>
        </p:nvSpPr>
        <p:spPr>
          <a:xfrm>
            <a:off x="3584448" y="1984248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636008" y="1691640"/>
            <a:ext cx="68580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Melhor eficiência, MAS regeneração de 6–9 h → inviável em contínuo + custo alto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66928" y="2825496"/>
            <a:ext cx="11064240" cy="1024128"/>
          </a:xfrm>
          <a:prstGeom prst="roundRect">
            <a:avLst>
              <a:gd name="adj" fmla="val 5357"/>
            </a:avLst>
          </a:prstGeom>
          <a:solidFill>
            <a:srgbClr val="F1F6FB"/>
          </a:solidFill>
          <a:ln w="12700">
            <a:solidFill>
              <a:srgbClr val="D7E1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5528" y="2825496"/>
            <a:ext cx="27432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Settler Gravit.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584448" y="3136392"/>
            <a:ext cx="822960" cy="402336"/>
          </a:xfrm>
          <a:prstGeom prst="roundRect">
            <a:avLst>
              <a:gd name="adj" fmla="val 11364"/>
            </a:avLst>
          </a:prstGeom>
          <a:solidFill>
            <a:srgbClr val="D9822B"/>
          </a:solidFill>
          <a:ln/>
        </p:spPr>
      </p:sp>
      <p:sp>
        <p:nvSpPr>
          <p:cNvPr id="13" name="Text 11"/>
          <p:cNvSpPr/>
          <p:nvPr/>
        </p:nvSpPr>
        <p:spPr>
          <a:xfrm>
            <a:off x="3584448" y="3118104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+7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636008" y="2825496"/>
            <a:ext cx="68580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Barato e simples, MAS não captura os finos (&lt;200 µm escapam)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66928" y="3959352"/>
            <a:ext cx="11064240" cy="1024128"/>
          </a:xfrm>
          <a:prstGeom prst="roundRect">
            <a:avLst>
              <a:gd name="adj" fmla="val 5357"/>
            </a:avLst>
          </a:prstGeom>
          <a:solidFill>
            <a:srgbClr val="F1F6FB"/>
          </a:solidFill>
          <a:ln w="12700">
            <a:solidFill>
              <a:srgbClr val="D7E1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95528" y="3959352"/>
            <a:ext cx="27432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3584448" y="4270248"/>
            <a:ext cx="822960" cy="402336"/>
          </a:xfrm>
          <a:prstGeom prst="roundRect">
            <a:avLst>
              <a:gd name="adj" fmla="val 11364"/>
            </a:avLst>
          </a:prstGeom>
          <a:solidFill>
            <a:srgbClr val="C0504D"/>
          </a:solidFill>
          <a:ln/>
        </p:spPr>
      </p:sp>
      <p:sp>
        <p:nvSpPr>
          <p:cNvPr id="18" name="Text 16"/>
          <p:cNvSpPr/>
          <p:nvPr/>
        </p:nvSpPr>
        <p:spPr>
          <a:xfrm>
            <a:off x="3584448" y="4251960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636008" y="3959352"/>
            <a:ext cx="68580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Degrada acima de 400 °C — eficiência cai e consumo sobe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66928" y="5093208"/>
            <a:ext cx="11064240" cy="1024128"/>
          </a:xfrm>
          <a:prstGeom prst="roundRect">
            <a:avLst>
              <a:gd name="adj" fmla="val 5357"/>
            </a:avLst>
          </a:prstGeom>
          <a:solidFill>
            <a:srgbClr val="F1F6FB"/>
          </a:solidFill>
          <a:ln w="12700">
            <a:solidFill>
              <a:srgbClr val="D7E1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95528" y="5093208"/>
            <a:ext cx="27432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Quench / Scrubber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3584448" y="5404104"/>
            <a:ext cx="822960" cy="402336"/>
          </a:xfrm>
          <a:prstGeom prst="roundRect">
            <a:avLst>
              <a:gd name="adj" fmla="val 11364"/>
            </a:avLst>
          </a:prstGeom>
          <a:solidFill>
            <a:srgbClr val="C0504D"/>
          </a:solidFill>
          <a:ln/>
        </p:spPr>
      </p:sp>
      <p:sp>
        <p:nvSpPr>
          <p:cNvPr id="23" name="Text 21"/>
          <p:cNvSpPr/>
          <p:nvPr/>
        </p:nvSpPr>
        <p:spPr>
          <a:xfrm>
            <a:off x="3584448" y="5385816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636008" y="5093208"/>
            <a:ext cx="68580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úmida: exige filtrar/tratar o líquido, resfria o gás (incompatível com o downstream) e o HCl vira ácido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66928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C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CAEXPERTS</a:t>
            </a:r>
            <a:pPr algn="l" indent="0" marL="0">
              <a:buNone/>
            </a:pPr>
            <a:r>
              <a:rPr lang="en-US" sz="90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Separacao Gas-Solido  ·  Valgroup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167567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g_wi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A33">
              <a:alpha val="8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566928" y="640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7FB3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RECOMENDAÇÃO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566928" y="9601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Ciclone — e os 2 desafios do próximo estágio</a:t>
            </a:r>
            <a:endParaRPr lang="en-US" sz="2900" dirty="0"/>
          </a:p>
        </p:txBody>
      </p:sp>
      <p:sp>
        <p:nvSpPr>
          <p:cNvPr id="6" name="Shape 3"/>
          <p:cNvSpPr/>
          <p:nvPr/>
        </p:nvSpPr>
        <p:spPr>
          <a:xfrm>
            <a:off x="566928" y="2148840"/>
            <a:ext cx="5212080" cy="2651760"/>
          </a:xfrm>
          <a:prstGeom prst="roundRect">
            <a:avLst>
              <a:gd name="adj" fmla="val 2759"/>
            </a:avLst>
          </a:prstGeom>
          <a:solidFill>
            <a:srgbClr val="14294A">
              <a:alpha val="88000"/>
            </a:srgbClr>
          </a:solidFill>
          <a:ln w="15875">
            <a:solidFill>
              <a:srgbClr val="7FB3D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86968" y="23774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Capturar os finos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886968" y="3063240"/>
            <a:ext cx="4572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F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ponto fraco do ciclone é a fração &lt; 75 µm do char carreado. O CFD (fase discreta) quantifica a eficiência por tamanho — o Lapple só dá o limite superior.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400800" y="2148840"/>
            <a:ext cx="5212080" cy="2651760"/>
          </a:xfrm>
          <a:prstGeom prst="roundRect">
            <a:avLst>
              <a:gd name="adj" fmla="val 2759"/>
            </a:avLst>
          </a:prstGeom>
          <a:solidFill>
            <a:srgbClr val="14294A">
              <a:alpha val="88000"/>
            </a:srgbClr>
          </a:solidFill>
          <a:ln w="15875">
            <a:solidFill>
              <a:srgbClr val="7FB3D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720840" y="23774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Evitar a condensação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6720840" y="3063240"/>
            <a:ext cx="4572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F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gás deve ficar ACIMA do ponto de orvalho dos hidrocarbonetos. O CFD verifica o gradiente parede-gás (o ciclone compacto ajuda: residência curta, pouca perda térmica).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566928" y="507492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Próximo: dimensionamento + CFD (STAR-CCM+) para cravar a eficiência real e a operação acima do orvalho.</a:t>
            </a:r>
            <a:endParaRPr lang="en-US" sz="1450" dirty="0"/>
          </a:p>
        </p:txBody>
      </p:sp>
      <p:pic>
        <p:nvPicPr>
          <p:cNvPr id="13" name="Image 1" descr="logo_caexpert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5728" y="5577840"/>
            <a:ext cx="1920240" cy="79083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Valgroup - Selecao de Tecnologia de Separacao</dc:title>
  <dc:subject>PptxGenJS Presentation</dc:subject>
  <dc:creator>CAEXPERTS</dc:creator>
  <cp:lastModifiedBy>CAEXPERTS</cp:lastModifiedBy>
  <cp:revision>1</cp:revision>
  <dcterms:created xsi:type="dcterms:W3CDTF">2026-07-22T16:32:23Z</dcterms:created>
  <dcterms:modified xsi:type="dcterms:W3CDTF">2026-07-22T16:32:23Z</dcterms:modified>
</cp:coreProperties>
</file>