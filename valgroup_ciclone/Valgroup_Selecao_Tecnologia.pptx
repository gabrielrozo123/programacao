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3">
              <a:alpha val="6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1325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Gás-Sólido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66928" y="2286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7FB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Tecnologia — Matriz de Decisão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50292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Valgroup Brasil
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 char do gás de pirólise  ·  Simcenter STAR-CCM+
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Hernandez Rozo</a:t>
            </a:r>
            <a:endParaRPr lang="en-US" sz="1800" dirty="0"/>
          </a:p>
        </p:txBody>
      </p:sp>
      <p:pic>
        <p:nvPicPr>
          <p:cNvPr id="7" name="Image 1" descr="logo_caexpe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4892040"/>
            <a:ext cx="2286000" cy="941471"/>
          </a:xfrm>
          <a:prstGeom prst="rect">
            <a:avLst/>
          </a:prstGeom>
        </p:spPr>
      </p:pic>
      <p:pic>
        <p:nvPicPr>
          <p:cNvPr id="8" name="Image 2" descr="badge_sieme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8767" y="5806440"/>
            <a:ext cx="1554480" cy="7714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— separar o char do gás quente de pirólise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430207" y="384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600200"/>
            <a:ext cx="6766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Gás de pirólise (r-PET) a 400–450 °C, 1,2 bar · ~80 kg/h de char (biomassa) a separar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de perda de carga: ΔP &lt; 40 mbar (16" H₂O)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abrasivo e mineral (Ti ~15%, Si, Fe — total ~21%) → separa bem, mas desgasta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Cloro 2,78% → HCl a 450 °C: risco de corrosão (favorece a via SECA)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= condensador casco-tubo → exige gás SECO e quente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635240" y="1691640"/>
            <a:ext cx="3977640" cy="3291840"/>
          </a:xfrm>
          <a:prstGeom prst="roundRect">
            <a:avLst>
              <a:gd name="adj" fmla="val 2222"/>
            </a:avLst>
          </a:prstGeom>
          <a:solidFill>
            <a:srgbClr val="F1F6FB"/>
          </a:solidFill>
          <a:ln w="15875">
            <a:solidFill>
              <a:srgbClr val="3E7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0" y="224028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tecnologia separa o char
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 alta eficiência, ΔP baixo, resistindo ao HCl e entregando gás seco quente ao condensador?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pPr algn="l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Separacao Gas-Solido  ·  Valgroup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67567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OPÇÕES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tecnologias avaliadas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430207" y="384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801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235000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seca · centrífuga · sem partes móveis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16552" y="160020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1801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45152" y="235000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úmida · resfria e dissolve o char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66176" y="160020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94776" y="1801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Cerâmico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94776" y="235000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Velas porosas · retém finos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6616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7673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95528" y="431596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Eletrostático · precipita partículas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16552" y="356616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37673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Scrubber Úmido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45152" y="431596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Lavagem · captura com líquido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66176" y="356616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94776" y="37673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Settler Gravit.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4776" y="431596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Câmara de decantação · gravidade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pPr algn="l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Separacao Gas-Solido  ·  Valgroup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67567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CRITÉRIOS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critérios de avaliação e seus pesos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430207" y="384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2</a:t>
            </a:r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crítico técnico / de processo (define se funciona)      </a:t>
            </a:r>
            <a:pPr indent="0" marL="0">
              <a:buNone/>
            </a:pPr>
            <a:r>
              <a:rPr lang="en-US" sz="1300" b="1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1</a:t>
            </a:r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econômico / risco (secundário)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365760"/>
          </a:xfrm>
          <a:prstGeom prst="rect">
            <a:avLst/>
          </a:prstGeom>
          <a:solidFill>
            <a:srgbClr val="1C5FA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44568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04688" y="1783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148840"/>
            <a:ext cx="11064240" cy="402336"/>
          </a:xfrm>
          <a:prstGeom prst="rect">
            <a:avLst/>
          </a:prstGeom>
          <a:solidFill>
            <a:srgbClr val="F1F6FB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148840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de operação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08576" y="2221992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C5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608576" y="219456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04688" y="2148840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Gás entra a 400–450 °C — a tecnologia não pode degradar a quente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551176"/>
            <a:ext cx="11064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2551176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partículas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08576" y="2624328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C5FA8"/>
          </a:solidFill>
          <a:ln/>
        </p:spPr>
      </p:sp>
      <p:sp>
        <p:nvSpPr>
          <p:cNvPr id="18" name="Text 16"/>
          <p:cNvSpPr/>
          <p:nvPr/>
        </p:nvSpPr>
        <p:spPr>
          <a:xfrm>
            <a:off x="4608576" y="2596896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504688" y="2551176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char tem finos &lt; 75 µm que precisam ser capturados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2953512"/>
            <a:ext cx="11064240" cy="402336"/>
          </a:xfrm>
          <a:prstGeom prst="rect">
            <a:avLst/>
          </a:prstGeom>
          <a:solidFill>
            <a:srgbClr val="F1F6FB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2953512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coleta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08576" y="3026664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C5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608576" y="299923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04688" y="295351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objetivo do projeto: quanto do char realmente separa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3355848"/>
            <a:ext cx="11064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" y="3355848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pressão (ΔP)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08576" y="3429000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C5FA8"/>
          </a:solidFill>
          <a:ln/>
        </p:spPr>
      </p:sp>
      <p:sp>
        <p:nvSpPr>
          <p:cNvPr id="28" name="Text 26"/>
          <p:cNvSpPr/>
          <p:nvPr/>
        </p:nvSpPr>
        <p:spPr>
          <a:xfrm>
            <a:off x="4608576" y="340156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04688" y="3355848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dura do processo: ΔP &lt; 40 mbar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3758184"/>
            <a:ext cx="11064240" cy="402336"/>
          </a:xfrm>
          <a:prstGeom prst="rect">
            <a:avLst/>
          </a:prstGeom>
          <a:solidFill>
            <a:srgbClr val="F1F6FB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" y="375818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pegajoso a 450 °C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608576" y="3831336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C5FA8"/>
          </a:solidFill>
          <a:ln/>
        </p:spPr>
      </p:sp>
      <p:sp>
        <p:nvSpPr>
          <p:cNvPr id="33" name="Text 31"/>
          <p:cNvSpPr/>
          <p:nvPr/>
        </p:nvSpPr>
        <p:spPr>
          <a:xfrm>
            <a:off x="4608576" y="3803904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504688" y="3758184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aglomerar e entupir o separador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4160520"/>
            <a:ext cx="11064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" y="4160520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ao downstream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608576" y="4233672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C5FA8"/>
          </a:solidFill>
          <a:ln/>
        </p:spPr>
      </p:sp>
      <p:sp>
        <p:nvSpPr>
          <p:cNvPr id="38" name="Text 36"/>
          <p:cNvSpPr/>
          <p:nvPr/>
        </p:nvSpPr>
        <p:spPr>
          <a:xfrm>
            <a:off x="4608576" y="420624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04688" y="4160520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condensador casco-tubo exige gás SECO e quente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" y="4562856"/>
            <a:ext cx="11064240" cy="402336"/>
          </a:xfrm>
          <a:prstGeom prst="rect">
            <a:avLst/>
          </a:prstGeom>
          <a:solidFill>
            <a:srgbClr val="F1F6FB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4088" y="4562856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Filtração de líquido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608576" y="4636008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C5FA8"/>
          </a:solidFill>
          <a:ln/>
        </p:spPr>
      </p:sp>
      <p:sp>
        <p:nvSpPr>
          <p:cNvPr id="43" name="Text 41"/>
          <p:cNvSpPr/>
          <p:nvPr/>
        </p:nvSpPr>
        <p:spPr>
          <a:xfrm>
            <a:off x="4608576" y="4608576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504688" y="4562856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do e-mail do cliente: evitar ter de filtrar líquido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66928" y="4965192"/>
            <a:ext cx="11064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" y="4965192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investimento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608576" y="5038344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3E7CA8"/>
          </a:solidFill>
          <a:ln/>
        </p:spPr>
      </p:sp>
      <p:sp>
        <p:nvSpPr>
          <p:cNvPr id="48" name="Text 46"/>
          <p:cNvSpPr/>
          <p:nvPr/>
        </p:nvSpPr>
        <p:spPr>
          <a:xfrm>
            <a:off x="4608576" y="501091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504688" y="496519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Importa, mas é secundário ao desempenho técnico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5367528"/>
            <a:ext cx="11064240" cy="402336"/>
          </a:xfrm>
          <a:prstGeom prst="rect">
            <a:avLst/>
          </a:prstGeom>
          <a:solidFill>
            <a:srgbClr val="F1F6FB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4088" y="5367528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608576" y="5440680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3E7CA8"/>
          </a:solidFill>
          <a:ln/>
        </p:spPr>
      </p:sp>
      <p:sp>
        <p:nvSpPr>
          <p:cNvPr id="53" name="Text 51"/>
          <p:cNvSpPr/>
          <p:nvPr/>
        </p:nvSpPr>
        <p:spPr>
          <a:xfrm>
            <a:off x="4608576" y="54132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504688" y="5367528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operacional e paradas de limpeza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66928" y="5769864"/>
            <a:ext cx="11064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7E1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4088" y="576986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tecnológica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4608576" y="5843016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3E7CA8"/>
          </a:solidFill>
          <a:ln/>
        </p:spPr>
      </p:sp>
      <p:sp>
        <p:nvSpPr>
          <p:cNvPr id="58" name="Text 56"/>
          <p:cNvSpPr/>
          <p:nvPr/>
        </p:nvSpPr>
        <p:spPr>
          <a:xfrm>
            <a:off x="4608576" y="5815584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504688" y="5769864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adotar tecnologia não comprovada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pPr algn="l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Separacao Gas-Solido  ·  Valgroup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1167567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de decisão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430207" y="384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endParaRPr lang="en-US" sz="1200" dirty="0"/>
          </a:p>
        </p:txBody>
      </p:sp>
      <p:pic>
        <p:nvPicPr>
          <p:cNvPr id="5" name="Image 0" descr="matr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6285653" cy="5120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06640" y="1737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06640" y="2148840"/>
            <a:ext cx="4251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critérios técnicos, com PESO 1 ou 2 (os mais críticos pesam 2)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tecnologia recebe +1 (positivo) · 0 (neutro) · −1 (negativo) por critério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do email do cliente incluído: 'evitar filtração de líquido' (peso 2)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ponderada → ranking objetivo (máx. +17)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pPr algn="l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Separacao Gas-Solido  ·  Valgroup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67567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Ciclone é a tecnologia recomendada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430207" y="384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endParaRPr lang="en-US" sz="1200" dirty="0"/>
          </a:p>
        </p:txBody>
      </p:sp>
      <p:pic>
        <p:nvPicPr>
          <p:cNvPr id="5" name="Image 0" descr="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6583680" cy="32531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52360" y="2011680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F1F6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VENCEDOR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68096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CICLONE  </a:t>
            </a:r>
            <a:pPr indent="0" marL="0">
              <a:buNone/>
            </a:pPr>
            <a:r>
              <a:rPr lang="en-US" sz="22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+11/17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680960" y="320040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clara sobre o 2º (Filtro Cerâmico, +8) e o 3º (Settler, +7). As vias úmidas (Quench/Scrubber) ficaram em último (+3).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pPr algn="l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Separacao Gas-Solido  ·  Valgroup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67567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razões pelas quais o ciclone venceu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430207" y="384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180136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temperatura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5528" y="231343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a 450 °C direto (via seca) — sem resfriar o gás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16552" y="160020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80136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9784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ΔP baixo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231343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5–25 mbar &lt; 40 mbar do projeto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66176" y="160020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67344" y="180136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846734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79408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partes móveis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94776" y="231343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custo e baixa manutenção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56616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376732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Gás seco e quente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95528" y="427939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Perfeito para o condensador casco-tubo a jusante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416552" y="356616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6732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29784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filtração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45152" y="427939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gera líquido a filtrar (critério do cliente)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66176" y="356616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67344" y="376732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/>
        </p:spPr>
      </p:sp>
      <p:sp>
        <p:nvSpPr>
          <p:cNvPr id="32" name="Text 30"/>
          <p:cNvSpPr/>
          <p:nvPr/>
        </p:nvSpPr>
        <p:spPr>
          <a:xfrm>
            <a:off x="8467344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79408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ao HCl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494776" y="427939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seca vence a corrosão que afunda as úmidas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pPr algn="l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Separacao Gas-Solido  ·  Valgroup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67567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TRADE-OFF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outras não passaram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430207" y="384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691640"/>
            <a:ext cx="2743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Cerâmico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84448" y="2002536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D9822B"/>
          </a:solidFill>
          <a:ln/>
        </p:spPr>
      </p:sp>
      <p:sp>
        <p:nvSpPr>
          <p:cNvPr id="8" name="Text 6"/>
          <p:cNvSpPr/>
          <p:nvPr/>
        </p:nvSpPr>
        <p:spPr>
          <a:xfrm>
            <a:off x="3584448" y="19842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36008" y="1691640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eficiência, MAS regeneração de 6–9 h → inviável em contínuo + custo alto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825496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825496"/>
            <a:ext cx="2743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Settler Gravit.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584448" y="3136392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D9822B"/>
          </a:solidFill>
          <a:ln/>
        </p:spPr>
      </p:sp>
      <p:sp>
        <p:nvSpPr>
          <p:cNvPr id="13" name="Text 11"/>
          <p:cNvSpPr/>
          <p:nvPr/>
        </p:nvSpPr>
        <p:spPr>
          <a:xfrm>
            <a:off x="3584448" y="311810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36008" y="2825496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Barato e simples, MAS não captura os finos (&lt;200 µm escapam)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3959352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959352"/>
            <a:ext cx="2743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584448" y="4270248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C0504D"/>
          </a:solidFill>
          <a:ln/>
        </p:spPr>
      </p:sp>
      <p:sp>
        <p:nvSpPr>
          <p:cNvPr id="18" name="Text 16"/>
          <p:cNvSpPr/>
          <p:nvPr/>
        </p:nvSpPr>
        <p:spPr>
          <a:xfrm>
            <a:off x="3584448" y="42519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36008" y="3959352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 acima de 400 °C — eficiência cai e consumo sobe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093208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1F6FB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5093208"/>
            <a:ext cx="2743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/ Scrubber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584448" y="5404104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3584448" y="538581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36008" y="5093208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úmida: exige filtrar/tratar o líquido, resfria o gás (incompatível com o downstream) e o HCl vira ácido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CAEXPERTS</a:t>
            </a:r>
            <a:pPr algn="l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Separacao Gas-Solido  ·  Valgroup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67567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3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B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66928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Ciclone — e os 2 desafios do próximo estágio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566928" y="21488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14294A">
              <a:alpha val="88000"/>
            </a:srgbClr>
          </a:solidFill>
          <a:ln w="15875">
            <a:solidFill>
              <a:srgbClr val="7FB3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6968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Capturar os finos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86968" y="3063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fraco do ciclone é a fração &lt; 75 µm do char carreado. O CFD (fase discreta) quantifica a eficiência por tamanho — o Lapple só dá o limite superior.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0" y="21488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14294A">
              <a:alpha val="88000"/>
            </a:srgbClr>
          </a:solidFill>
          <a:ln w="15875">
            <a:solidFill>
              <a:srgbClr val="7FB3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Evitar a condensação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720840" y="3063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gás deve ficar ACIMA do ponto de orvalho dos hidrocarbonetos. O CFD verifica o gradiente parede-gás (o ciclone compacto ajuda: residência curta, pouca perda térmica).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66928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Próximo: dimensionamento + CFD (STAR-CCM+) para cravar a eficiência real e a operação acima do orvalho.</a:t>
            </a:r>
            <a:endParaRPr lang="en-US" sz="1450" dirty="0"/>
          </a:p>
        </p:txBody>
      </p:sp>
      <p:pic>
        <p:nvPicPr>
          <p:cNvPr id="13" name="Image 1" descr="logo_caexpe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28" y="5577840"/>
            <a:ext cx="1920240" cy="7908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Valgroup - Selecao de Tecnologia de Separacao</dc:title>
  <dc:subject>PptxGenJS Presentation</dc:subject>
  <dc:creator>CAEXPERTS</dc:creator>
  <cp:lastModifiedBy>CAEXPERTS</cp:lastModifiedBy>
  <cp:revision>1</cp:revision>
  <dcterms:created xsi:type="dcterms:W3CDTF">2026-07-22T18:30:15Z</dcterms:created>
  <dcterms:modified xsi:type="dcterms:W3CDTF">2026-07-22T18:30:15Z</dcterms:modified>
</cp:coreProperties>
</file>